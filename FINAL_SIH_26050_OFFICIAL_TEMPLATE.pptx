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00" b="1">
                <a:solidFill>
                  <a:srgbClr val="003399"/>
                </a:solidFill>
              </a:defRPr>
            </a:pPr>
            <a:r>
              <a:t>PROBLEM STATEMENT METADATA:</a:t>
            </a:r>
            <a:endParaRPr lang="en-US" dirty="0"/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Problem Statement ID — 26050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Problem Statement Title — High Altitude Performance Optimization and Robust Design of Anti-Drone System</a:t>
            </a:r>
          </a:p>
          <a:p>
            <a:pPr>
              <a:defRPr sz="1100" b="1">
                <a:solidFill>
                  <a:srgbClr val="138808"/>
                </a:solidFill>
              </a:defRPr>
            </a:pPr>
            <a:r>
              <a:t>Project Solution Title — HIGH-ALTITUDE RUGGEDIZED ANTI-DRONE DETECTION &amp; PRECISION TRACKING SYSTEM WITH AI-BASED ENVIRONMENTAL COMPENSATION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Theme — Robotics and Drones / Defence &amp; Security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PS Category — Software / Hardware Integration (Hybrid)</a:t>
            </a:r>
          </a:p>
          <a:p>
            <a:pPr>
              <a:defRPr sz="1100" b="0">
                <a:solidFill>
                  <a:srgbClr val="1E293B"/>
                </a:solidFill>
              </a:defRPr>
            </a:pPr>
            <a:r>
              <a:t>Team ID — SIH2026-PS26050-TEAM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Team Name — HAADS SIH 26050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300" b="1">
                <a:solidFill>
                  <a:srgbClr val="B45309"/>
                </a:solidFill>
              </a:defRPr>
            </a:pPr>
            <a:r>
              <a:t>PROBLEM (HIGH-ALTITUDE OPERATIONAL STRESS):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Extreme cold (-30°C) affects motor pulse response, lubricant viscosity, and mechanical cable stiffness.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Low atmospheric pressure (500 hPa) changes air density and dynamic aerodynamic behaviour.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High wind gusts (60 km/h) cause severe aerodynamic drag (2.55 N) and target-pointing drift.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Mountain glare and atmospheric haze reduce visual sensor reliability.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Uncompensated environmental variation causes tracking instability and target acquisition loss.</a:t>
            </a:r>
          </a:p>
          <a:p>
            <a:br/>
            <a:pPr>
              <a:defRPr sz="1300" b="1">
                <a:solidFill>
                  <a:srgbClr val="138808"/>
                </a:solidFill>
              </a:defRPr>
            </a:pPr>
            <a:r>
              <a:t>PROPOSED SOLUTION (INTEGRATED HARDWARE + AI EDGE VISION):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Real-time YOLO26n-based visual object detection (sub-40ms edge inference).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SORT-based persistent target tracking maintaining track IDs with center locking (320, 240).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BME280 environmental monitoring (Temperature + Atmospheric Pressure + Humidity).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MPU6050 6-axis IMU for tilt, motion, and structural vibration monitoring.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Anemometer wind-speed sensor for real-time aerodynamic drag compensation.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Environment-aware compensation engine scaling servo pulse signals (Stiffness factor x1.5).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ESP32 DevKit V1 telemetry communication through HiveMQ MQTT broker.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2-axis Pan-Tilt servo mechanism for physical target-centred tracking.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Piezo buzzer local alert indication (GPIO 25 @ 2000Hz tone).</a:t>
            </a:r>
          </a:p>
          <a:p>
            <a:br/>
            <a:pPr>
              <a:defRPr sz="1300" b="1">
                <a:solidFill>
                  <a:srgbClr val="003399"/>
                </a:solidFill>
              </a:defRPr>
            </a:pPr>
            <a:r>
              <a:t>INNOVATION &amp; INTEGRATED CHAIN: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Environment sensing + AI edge detection + persistent tracking + dynamic compensation + pan-tilt servo control in one unified system.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📌 INTEGRATED FLOW: SENSORS (BME280/MPU6050/Wind) ➔ AI DETECTION (YOLO26n) ➔ TARGET TRACKING (SORT) ➔ COMPENSATION ENGINE ➔ PAN-TILT SERVO CONTROL ➔ TARGET LOCK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900"/>
            </a:pPr>
            <a:r>
              <a:t>🇮🇳 SIH 2026 | PS 26050 — HAADS SIH 26050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HAADS SIH 26050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200" b="1">
                <a:solidFill>
                  <a:srgbClr val="003399"/>
                </a:solidFill>
              </a:defRPr>
            </a:pPr>
            <a:r>
              <a:t>1. REAL PHYSICAL HARDWARE COMPONENTS (PROTOTYPE BOM):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ESP32 DevKit V1: Main 32-bit dual-core microcontroller, sensor acquisition, PWM servo control, MQTT Wi-Fi telemetry.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BME280 Sensor Module: Ingests ambient Temperature, Atmospheric Pressure, and Relative Humidity.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MPU6050 IMU Module: Measures 3-axis acceleration, tilt/orientation angles, and structural vibration.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Anemometer / Wind Speed Sensor: Real wind-speed measurement used for aerodynamic drag force compensation.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SG90 / MG90S Servo Motors: 2 precision servo motors (One for PAN azimuth, One for TILT elevation).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2-Axis Pan-Tilt Camera Bracket: Mechanical gimbal mounting structure holding and moving the camera payload.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USB Webcam: Real camera visual input for physical target detection and tracking.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Piezo Buzzer: Local audible alert output indicating target lock and system events (GPIO 25).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10kΩ Potentiometers: Manual testing and threshold calibration inputs.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5V Regulated Power Supply &amp; Power Bus: Provides clean DC power for servos and microcontroller peripherals.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Breadboard &amp; Jumper Wires: Circuit wiring and inter-module signal connections.</a:t>
            </a:r>
          </a:p>
          <a:p>
            <a:br/>
            <a:pPr>
              <a:defRPr sz="1200" b="1">
                <a:solidFill>
                  <a:srgbClr val="138808"/>
                </a:solidFill>
              </a:defRPr>
            </a:pPr>
            <a:r>
              <a:t>2. COMPUTING &amp; AI EDGE PLATFORM (LAPTOP / SYSTEM):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Laptop / Computer: Runs Python 3.12, OpenCV 4.x, YOLO26n Edge AI model, SORT Tracker, and Streamlit Dashboard.</a:t>
            </a:r>
          </a:p>
          <a:p>
            <a:br/>
            <a:pPr>
              <a:defRPr sz="1200" b="1">
                <a:solidFill>
                  <a:srgbClr val="B45309"/>
                </a:solidFill>
              </a:defRPr>
            </a:pPr>
            <a:r>
              <a:t>3. COMMUNICATION ARCHITECTURE: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ESP32 DevKit ──[Wi-Fi / HiveMQ MQTT Broker]──&gt; Python Hardware Interface ──&gt; Streamlit Dashboard</a:t>
            </a:r>
          </a:p>
          <a:p>
            <a:br/>
            <a:pPr>
              <a:defRPr sz="1200" b="1">
                <a:solidFill>
                  <a:srgbClr val="646464"/>
                </a:solidFill>
              </a:defRPr>
            </a:pPr>
            <a:r>
              <a:t>4. SIMULATION VALIDATION LINK (WOKWI):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WOKWI SIMULATION: Virtual ESP32 platform used for hardware-in-the-loop validation before physical wiring.</a:t>
            </a:r>
          </a:p>
          <a:p>
            <a:br/>
            <a:pPr>
              <a:defRPr sz="1200" b="1">
                <a:solidFill>
                  <a:srgbClr val="003399"/>
                </a:solidFill>
              </a:defRPr>
            </a:pPr>
            <a:r>
              <a:t>5. END-TO-END SYSTEM DATA FLOWS: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MAIN VISION FLOW: USB WEBCAM ➔ OpenCV ➔ YOLO26n ➔ SORT TRACKER ➔ CENTROID LOCK ➔ COMPENSATION ➔ ESP32 ➔ PAN/TILT SERVOS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• ENVIRONMENT FLOW: BME280 + MPU6050 + ANEMOMETER ➔ ESP32 ➔ MQTT TELEMETRY ➔ LAPTOP ➔ DYNAMIC COMPENSATION ENGINE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900"/>
            </a:pPr>
            <a:r>
              <a:t>🇮🇳 SIH 2026 | PS 26050 — HAADS SIH 26050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HAADS SIH 26050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1">
                <a:solidFill>
                  <a:srgbClr val="138808"/>
                </a:solidFill>
              </a:defRPr>
            </a:pPr>
            <a:r>
              <a:t>TECHNICAL FEASIBILITY: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ESP32 DevKit provides highly reliable, low-cost embedded control for sensor sampling and servo PWM generation.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BME280, MPU6050, and anemometer supply accurate environmental telemetry for dynamic software compensation.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2-axis servo pan-tilt mechanism enables clear physical target tracking demonstration.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Laptop CPU/GPU handles real-time YOLO26n Edge AI vision and SORT tracking during the prototype phase.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Wokwi simulation enables safe virtual hardware testing before physical assembly.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Modular system design supports seamless transition to standalone embedded edge hardware (e.g. Jetson Orin).</a:t>
            </a:r>
          </a:p>
          <a:p>
            <a:br/>
            <a:pPr>
              <a:defRPr sz="1200" b="1">
                <a:solidFill>
                  <a:srgbClr val="B45309"/>
                </a:solidFill>
              </a:defRPr>
            </a:pPr>
            <a:r>
              <a:t>OPERATIONAL CHALLENGES: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Extreme cold (-30°C) increasing cable resistance, lubricant viscosity, and motor torque demand.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Low atmospheric pressure (500 hPa) altering air density and thermal dissipation efficiency.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High wind disturbance (60 km/h) inducing aerodynamic drag force (2.55 N) and pointing drift.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Mechanical vibration and chatter caused by high-altitude winds.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Sensor drift and visual glare under intense high-altitude sunlight.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Servo positioning backlash and potential MQTT communication network latency.</a:t>
            </a:r>
          </a:p>
          <a:p>
            <a:br/>
            <a:pPr>
              <a:defRPr sz="1200" b="1">
                <a:solidFill>
                  <a:srgbClr val="003399"/>
                </a:solidFill>
              </a:defRPr>
            </a:pPr>
            <a:r>
              <a:t>MITIGATION STRATEGIES: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Temperature-aware pulse compensation multiplying servo drive gain (Stiffness factor x1.5).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Wind-speed based aerodynamic drag calculation and automatic pan/tilt angular offset correction.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IMU-based vibration monitoring and adaptive stabilization filtering.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Sensor validation and noise rejection algorithms.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SORT persistent object tracking preserving target Track IDs through momentary camera glare drops.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Servo position feedback control and MQTT heartbeat liveness monitoring.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Truthful 9-subsystem health monitor providing complete operator visibility.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900"/>
            </a:pPr>
            <a:r>
              <a:t>🇮🇳 SIH 2026 | PS 26050 — HAADS SIH 26050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HAADS SIH 26050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1">
                <a:solidFill>
                  <a:srgbClr val="003399"/>
                </a:solidFill>
              </a:defRPr>
            </a:pPr>
            <a:r>
              <a:t>TARGET APPLICATIONS &amp; USER DOMAINS: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High-altitude security installations and remote defense outposts (Himalayan border sectors).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Mountainous border surveillance and perimeter monitoring corridors.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Critical national infrastructure protection (power plants, communication relays, airbases).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Defense R&amp;D laboratories and prototyping testbeds.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Non-kinetic anti-drone detection, tracking, and authorized response research.</a:t>
            </a:r>
          </a:p>
          <a:p>
            <a:br/>
            <a:pPr>
              <a:defRPr sz="1200" b="1">
                <a:solidFill>
                  <a:srgbClr val="138808"/>
                </a:solidFill>
              </a:defRPr>
            </a:pPr>
            <a:r>
              <a:t>SYSTEM BENEFITS: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Environment-aware tracking resilient against severe atmospheric and thermal stress.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Improved pointing stability and reduced target acquisition loss under strong wind gusts.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Real-time environmental monitoring (Temperature, Pressure, Wind Speed, Vibration).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Real-time operator visibility into complete system health via 9-subsystem health matrix.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Modular hardware architecture allowing straightforward component upgrades and maintenance.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Low-cost simulation-first development model combining Wokwi ESP32 and open-source AI tools.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Scalable edge-AI architecture designed for easy future transition to rugged field deployment.</a:t>
            </a:r>
          </a:p>
          <a:p>
            <a:br/>
            <a:pPr>
              <a:defRPr sz="1200" b="1">
                <a:solidFill>
                  <a:srgbClr val="B45309"/>
                </a:solidFill>
              </a:defRPr>
            </a:pPr>
            <a:r>
              <a:t>SCALABILITY ROADMAP: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CURRENT PROTOTYPE: Laptop + USB Webcam + Wokwi ESP32 Simulation &amp; MQTT Telemetry Link.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PHYSICAL PROTOTYPE: ESP32 + BME280 + MPU6050 + Anemometer + USB Webcam + 2-Axis Servos + Buzzer + 5V Supply.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FUTURE FIELD DEPLOYMENT: Embedded Edge AI (Jetson Orin) + Ruggedized IP67 Enclosure + High-Altitude Field Operations.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900"/>
            </a:pPr>
            <a:r>
              <a:t>🇮🇳 SIH 2026 | PS 26050 — HAADS SIH 26050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HAADS SIH 26050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1">
                <a:solidFill>
                  <a:srgbClr val="003399"/>
                </a:solidFill>
              </a:defRPr>
            </a:pPr>
            <a:r>
              <a:t>GENUINE TECHNICAL &amp; RESEARCH REFERENCES: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[1] YOLO / Ultralytics Documentation: Real-time object detection models and edge vision deployment benchmarks.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[2] SORT Tracking Algorithm (Bewley et al.): Simple Online and Realtime Tracking for persistent target centroid locking.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[3] ESP32 Microcontroller Documentation (Espressif Systems): ESP32 dual-core architecture, PWM, and Wi-Fi stack.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[4] Bosch BME280 Sensor Datasheet: Environmental sensing principles for barometric pressure, temperature &amp; humidity.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[5] MPU6050 IMU Datasheet (InvenSense): 6-axis motion tracking, accelerometer, and gyroscope processing.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[6] Anemometer Measurement Principles: Principles of wind-speed measurement and aerodynamic drag calculation.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[7] Wokwi Simulator Documentation: Virtual microcontroller hardware simulation platform for ESP32 and IoT modules.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[8] MQTT Protocol Specification (OASIS Standard): Lightweight publish/subscribe messaging transport for IoT telemetry.</a:t>
            </a:r>
          </a:p>
          <a:p>
            <a:pPr>
              <a:defRPr sz="950" b="0">
                <a:solidFill>
                  <a:srgbClr val="1E293B"/>
                </a:solidFill>
              </a:defRPr>
            </a:pPr>
            <a:r>
              <a:t>• [9] MIL-STD-810H Military Standard: Environmental engineering considerations and laboratory tests for high altitude &amp; extreme cold.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900"/>
            </a:pPr>
            <a:r>
              <a:t>🇮🇳 SIH 2026 | PS 26050 — HAADS SIH 26050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HAADS SIH 26050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
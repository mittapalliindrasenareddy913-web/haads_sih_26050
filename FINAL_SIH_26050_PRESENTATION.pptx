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4059936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59936" y="274320"/>
            <a:ext cx="4059936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19872" y="274320"/>
            <a:ext cx="4069080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9933"/>
                </a:solidFill>
              </a:defRPr>
            </a:pPr>
            <a:r>
              <a:t>🇮🇳 SMART INDIA HACKATHON 2026 | OFFICIAL IDEA SUBMISSION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1104" y="1005840"/>
            <a:ext cx="3657600" cy="411480"/>
          </a:xfrm>
          <a:prstGeom prst="round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PROBLEM STATEMENT ID: 26050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BD5E1"/>
                </a:solidFill>
              </a:defRPr>
            </a:pPr>
            <a:r>
              <a:t>High Altitude Performance Optimization and Robust Design of Anti-Drone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10728655" cy="105156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9933"/>
                </a:solidFill>
              </a:defRPr>
            </a:pPr>
            <a:r>
              <a:t>PROPOSED SOLUTION TITLE: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HIGH-ALTITUDE RUGGEDIZED ANTI-DRONE DETECTION &amp; PRECISION TRACKING SYSTEM WITH AI-BASED ENVIRONMENTAL COMPENSATION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5212080" cy="301752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23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9933"/>
                </a:solidFill>
              </a:defRPr>
            </a:pPr>
            <a:r>
              <a:t>📋 SIH 2026 REGISTRATION METADATA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Theme: Robotics and Drones / Defence &amp; Security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PS Category: Software / Hardware Integration (Hybrid)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Team ID: SIH2026-PS26050-TEAM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Team Name: HAADS SIH 26050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AI Architecture: YOLO26n Edge AI + SORT Persistent Tracker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Hardware Link: Wokwi ESP32 Telemetry &amp; Servo Controller (MQTT)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3337560"/>
            <a:ext cx="5212080" cy="301752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38808"/>
                </a:solidFill>
              </a:defRPr>
            </a:pPr>
            <a:r>
              <a:t>⛰️ HIGH-ALTITUDE SYSTEM CONCEPT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Environment: High-Altitude Stress (-30°C, 500hPa, 60km/h Wind)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Vision Engine: Live Web Camera + Screen-Proxy Drone/Person Test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Compensation: Deterministic Stiffness (x1.5) &amp; Drag Vector (2.55N)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Gimbal Control: Stabilized Pan-Tilt Servos (Center Lock 320x240)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Telemetry Link: Wokwi ESP32 MQTT Heartbeat &amp; Buzzer (GPIO 25)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Health Matrix: Truthful 9-Subsystem Health &amp; Safety Monitor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BD5E1"/>
                </a:solidFill>
              </a:defRPr>
            </a:pPr>
            <a:r>
              <a:t>🇮🇳 SMART INDIA HACKATHON 2026 | PS 26050 — HIGH ALTITUDE ANTI-DRONE SYSTEM | TEAM HAADS SIH 26050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365760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365760"/>
            <a:ext cx="36576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0" y="365760"/>
            <a:ext cx="3962095" cy="54864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502920"/>
            <a:ext cx="2926080" cy="320040"/>
          </a:xfrm>
          <a:prstGeom prst="roundRect">
            <a:avLst/>
          </a:prstGeom>
          <a:solidFill>
            <a:srgbClr val="003399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📍 SIH POINTER: IDEA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43891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IDEA TITLE: PROBLEM, SOLUTION &amp; INNOVATION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3474720" cy="530352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9933"/>
                </a:solidFill>
              </a:defRPr>
            </a:pPr>
            <a:r>
              <a:t>⚠️ THE PROBLEM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Extreme Thermal Stress: Temperatures drop to -30°C causing lubricant freeze &amp; cable stiffness.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Atmospheric Pressure Drop: Low pressure (500 hPa) reduces motor torque &amp; alters air resistance.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High Wind Aerodynamic Drag: 60 km/h gusts induce up to 2.55N force causing pointing drift.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Visual Acquisition Loss: Mountain glare &amp; haze degrade raw camera frame contrast.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Uncompensated System Failure: Standard pan-tilt gimbals lose target lock without dynamic compensation.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9" y="1005840"/>
            <a:ext cx="3474720" cy="530352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38808"/>
                </a:solidFill>
              </a:defRPr>
            </a:pPr>
            <a:r>
              <a:t>💡 PROPOSING SOLUTION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Real-Time YOLO26n Edge AI: Sub-40ms object detection for drone targets &amp; mobile screen-proxy testing.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SORT Target Tracking: Persistent Track ID assignment locking center vector (320, 240).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Deterministic Compensation: Multiplies servo pulse gain &amp; compensates drag force in real-time.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Truthful Health Monitor: Continuously verifies 9 subsystems (Sensors, AI, Servos, MQTT).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Wokwi ESP32 IoT Integration: Hardware telemetry heartbeat &amp; buzzer alert via MQTT.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005840"/>
            <a:ext cx="3474720" cy="530352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D700"/>
                </a:solidFill>
              </a:defRPr>
            </a:pPr>
            <a:r>
              <a:t>⚡ INNOVATION &amp; CHAIN</a:t>
            </a:r>
          </a:p>
          <a:p>
            <a:pPr>
              <a:defRPr sz="1000" b="1">
                <a:solidFill>
                  <a:srgbClr val="FF9933"/>
                </a:solidFill>
              </a:defRPr>
            </a:pPr>
            <a:r>
              <a:t>INFOGRAPHIC FLOW CHAIN: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⬇️ 1️⃣ ENVIRONMENT SENSORS</a:t>
            </a:r>
            <a:br/>
            <a:r>
              <a:t>(BME280 / MPU6050 Ingestion)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⬇️ 2️⃣ EDGE AI DETECTOR</a:t>
            </a:r>
            <a:br/>
            <a:r>
              <a:t>(YOLO26n @ Sub-40ms)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⬇️ 3️⃣ COMPENSATION ENGINE</a:t>
            </a:r>
            <a:br/>
            <a:r>
              <a:t>(Stiffness x1.5 &amp; Drag 2.55N)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⬇️ 4️⃣ PAN/TILT SERVO LOCK</a:t>
            </a:r>
            <a:br/>
            <a:r>
              <a:t>(Pan 90°+Corr, Tilt 90°+Corr)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⬇️ 5️⃣ WOKWI TELEMETRY &amp; ALARM</a:t>
            </a:r>
            <a:br/>
            <a:r>
              <a:t>(ESP32 MQTT Link @ GPIO 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BD5E1"/>
                </a:solidFill>
              </a:defRPr>
            </a:pPr>
            <a:r>
              <a:t>🇮🇳 SMART INDIA HACKATHON 2026 | PS 26050 — HIGH ALTITUDE ANTI-DRONE SYSTEM | TEAM HAADS SIH 26050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365760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365760"/>
            <a:ext cx="36576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0" y="365760"/>
            <a:ext cx="3962095" cy="54864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502920"/>
            <a:ext cx="2926080" cy="320040"/>
          </a:xfrm>
          <a:prstGeom prst="roundRect">
            <a:avLst/>
          </a:prstGeom>
          <a:solidFill>
            <a:srgbClr val="003399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📍 SIH POINTER: TECHNICAL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43891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TECHNICAL APPROACH: SYSTEM ARCHITECTURE &amp; TECH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11277295" cy="310896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38808"/>
                </a:solidFill>
              </a:defRPr>
            </a:pPr>
            <a:r>
              <a:t>🏗️ END-TO-END SYSTEM ARCHITECTURE &amp; DATA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63040"/>
            <a:ext cx="2011680" cy="109728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9933"/>
                </a:solidFill>
              </a:defRPr>
            </a:pPr>
            <a:r>
              <a:t>1. ENVIRONMENT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Temp/Press/Wind/Vib</a:t>
            </a:r>
            <a:br/>
            <a:r>
              <a:t>-30°C | 500hPa | 60km/h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463040"/>
            <a:ext cx="2011680" cy="109728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2. SENSOR INGESTION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BME280 &amp; MPU6050</a:t>
            </a:r>
            <a:br/>
            <a:r>
              <a:t>Telemetry Stream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463040"/>
            <a:ext cx="2011680" cy="109728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38808"/>
                </a:solidFill>
              </a:defRPr>
            </a:pPr>
            <a:r>
              <a:t>3. AI EDGE VISION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YOLO26n Detector</a:t>
            </a:r>
            <a:br/>
            <a:r>
              <a:t>+ SORT Tracker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463040"/>
            <a:ext cx="2011680" cy="109728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D700"/>
                </a:solidFill>
              </a:defRPr>
            </a:pPr>
            <a:r>
              <a:t>4. COMPENSATION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Stiffness &amp; Drag Model</a:t>
            </a:r>
            <a:br/>
            <a:r>
              <a:t>Pan/Tilt Offsets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1463040"/>
            <a:ext cx="2011680" cy="109728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9933"/>
                </a:solidFill>
              </a:defRPr>
            </a:pPr>
            <a:r>
              <a:t>5. GIMBAL CONTROL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Pan/Tilt Servos</a:t>
            </a:r>
            <a:br/>
            <a:r>
              <a:t>Target Lock (320,240)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743200"/>
            <a:ext cx="1078992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9933"/>
                </a:solidFill>
              </a:defRPr>
            </a:pPr>
            <a:r>
              <a:t>🔌 HARDWARE INTEGRATION LINK: WOKWI ESP32 MICROCONTROLLER SIMULATION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Wokwi Virtual ESP32 ──[HiveMQ MQTT Broker]──&gt; System Interface ──&gt; Buzzer Alert (GPIO 25 @ 2000Hz) &amp; Telemetry Heartbeat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343400"/>
            <a:ext cx="2606040" cy="196596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23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9933"/>
                </a:solidFill>
              </a:defRPr>
            </a:pPr>
            <a:r>
              <a:t>💻 PROGRAMMING &amp; AI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Python 3.12, OpenCV 4.x</a:t>
            </a:r>
            <a:br/>
            <a:r>
              <a:t>YOLO26n Edge AI Model</a:t>
            </a:r>
            <a:br/>
            <a:r>
              <a:t>SORT Object Tracker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4343400"/>
            <a:ext cx="2606040" cy="196596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23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9933"/>
                </a:solidFill>
              </a:defRPr>
            </a:pPr>
            <a:r>
              <a:t>🌐 WEB UI PLATFORM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Streamlit Dashboard Engine</a:t>
            </a:r>
            <a:br/>
            <a:r>
              <a:t>Indian Defence Tricolour UI</a:t>
            </a:r>
            <a:br/>
            <a:r>
              <a:t>Real-Time Frame Stream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343400"/>
            <a:ext cx="2606040" cy="196596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23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9933"/>
                </a:solidFill>
              </a:defRPr>
            </a:pPr>
            <a:r>
              <a:t>⚡ HARDWARE &amp; IOT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ESP32 Microcontroller</a:t>
            </a:r>
            <a:br/>
            <a:r>
              <a:t>Wokwi Hardware Simulator</a:t>
            </a:r>
            <a:br/>
            <a:r>
              <a:t>HiveMQ MQTT Pub/Sub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4343400"/>
            <a:ext cx="2606040" cy="196596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23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9933"/>
                </a:solidFill>
              </a:defRPr>
            </a:pPr>
            <a:r>
              <a:t>📐 ALGORITHMIC ENGINE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Stiffness Multiplication (x1.5)</a:t>
            </a:r>
            <a:br/>
            <a:r>
              <a:t>Aerodynamic Drag Vector</a:t>
            </a:r>
            <a:br/>
            <a:r>
              <a:t>Truthful 9-Subsystem Matrix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BD5E1"/>
                </a:solidFill>
              </a:defRPr>
            </a:pPr>
            <a:r>
              <a:t>🇮🇳 SMART INDIA HACKATHON 2026 | PS 26050 — HIGH ALTITUDE ANTI-DRONE SYSTEM | TEAM HAADS SIH 26050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365760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365760"/>
            <a:ext cx="36576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0" y="365760"/>
            <a:ext cx="3962095" cy="54864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502920"/>
            <a:ext cx="2926080" cy="320040"/>
          </a:xfrm>
          <a:prstGeom prst="roundRect">
            <a:avLst/>
          </a:prstGeom>
          <a:solidFill>
            <a:srgbClr val="003399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📍 SIH POINTER: FEASIBILITY AND VIABILITY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43891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FEASIBILITY AND VIABILITY: TECHNICAL ASSESSMENT &amp; RISK MATRIX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3474720" cy="329184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38808"/>
                </a:solidFill>
              </a:defRPr>
            </a:pPr>
            <a:r>
              <a:t>✅ TECHNICAL FEASIBILITY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Edge AI Feasibility: YOLO26n runs efficiently on standard CPUs/Edge accelerators (sub-40ms).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Hardware Simulation: Wokwi ESP32 models real sensor inputs without upfront hardware cost.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Software Screen-Proxy: Safe laboratory validation using mobile phone target content.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9" y="1005840"/>
            <a:ext cx="3474720" cy="329184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9933"/>
                </a:solidFill>
              </a:defRPr>
            </a:pPr>
            <a:r>
              <a:t>⚠️ OPERATIONAL CHALLENGES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Mechanical Stiffness: -30°C cold increases cable resistance &amp; motor torque demand.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Aerodynamic Drag: 60 km/h wind gusts produce 2.55N lateral forces.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Sensor Drift &amp; Glare: Mountain solar glare degrades baseline detection confidence.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005840"/>
            <a:ext cx="3474720" cy="329184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D700"/>
                </a:solidFill>
              </a:defRPr>
            </a:pPr>
            <a:r>
              <a:t>🛠️ MITIGATION STRATEGIES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Dynamic Stiffness Factor: Multiplies motor drive signal by x1.5 at low temperatures.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Drag Force Offset: Computes air density &amp; applies feedback correction angles.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Adaptive Thresholding: Lowers confidence bar (0.15 → 0.10) under severe glare.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80560"/>
            <a:ext cx="11277295" cy="182880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9933"/>
                </a:solidFill>
              </a:defRPr>
            </a:pPr>
            <a:r>
              <a:t>📊 RISK VS. ENGINEERING MITIGATION MATRIX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4846320"/>
          <a:ext cx="10911535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5486400"/>
                <a:gridCol w="1493215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Risk Factor</a:t>
                      </a:r>
                    </a:p>
                  </a:txBody>
                  <a:tcP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Engineering Countermeasure</a:t>
                      </a:r>
                    </a:p>
                  </a:txBody>
                  <a:tcP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Verification</a:t>
                      </a:r>
                    </a:p>
                  </a:txBody>
                  <a:tcPr>
                    <a:solidFill>
                      <a:srgbClr val="00339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-30°C Cable Stiffness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HIGH (-30°C)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Temperature Stiffness Factor Scaling (x1.5 pulse multiplier)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38808"/>
                          </a:solidFill>
                        </a:defRPr>
                      </a:pPr>
                      <a:r>
                        <a:t>VERIFIED (Code 0)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60 km/h Wind Drag Force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HIGH (2.55 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Real-time aerodynamic drag compensation &amp; angle correction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38808"/>
                          </a:solidFill>
                        </a:defRPr>
                      </a:pPr>
                      <a:r>
                        <a:t>VERIFIED (Code 0)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Low-Light / Glare Target Loss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Adaptive confidence fallback threshold (0.15 -&gt; 0.10)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38808"/>
                          </a:solidFill>
                        </a:defRPr>
                      </a:pPr>
                      <a:r>
                        <a:t>VERIFIED (Code 0)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BD5E1"/>
                </a:solidFill>
              </a:defRPr>
            </a:pPr>
            <a:r>
              <a:t>🇮🇳 SMART INDIA HACKATHON 2026 | PS 26050 — HIGH ALTITUDE ANTI-DRONE SYSTEM | TEAM HAADS SIH 26050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365760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365760"/>
            <a:ext cx="36576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0" y="365760"/>
            <a:ext cx="3962095" cy="54864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502920"/>
            <a:ext cx="2926080" cy="320040"/>
          </a:xfrm>
          <a:prstGeom prst="roundRect">
            <a:avLst/>
          </a:prstGeom>
          <a:solidFill>
            <a:srgbClr val="003399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📍 SIH POINTER: IMPACT AND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43891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IMPACT AND BENEFITS: APPLICATION AREAS &amp; QUANTIFIED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3474720" cy="530352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9933"/>
                </a:solidFill>
              </a:defRPr>
            </a:pPr>
            <a:r>
              <a:t>🎯 TARGET APPLICATION AREAS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High-Altitude Border Security: Defense outposts in Himalayan mountain sectors.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Critical Infrastructure: Remote power grids, communication towers &amp; military depots.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Defense R&amp;D Facilities: Safe non-kinetic anti-drone testing &amp; algorithm validation.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Emergency Defense Deployments: Rapidly deployable lightweight edge tracking units.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657600" cy="530352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0"/>
          <a:lstStyle/>
          <a:p>
            <a:pPr algn="ctr">
              <a:defRPr sz="1300" b="1">
                <a:solidFill>
                  <a:srgbClr val="138808"/>
                </a:solidFill>
              </a:defRPr>
            </a:pPr>
            <a:r>
              <a:t>📈 QUANTIFIED SYSTEM BENEFITS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Tracking Accuracy: Sub-pixel error vector calculation maintains center lock (320, 240).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Zero-Cost Prototyping: Wokwi ESP32 + MQTT link enables comprehensive development without risking expensive hardware.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Truthful Visibility: 9-subsystem health monitor alerts operators instantly.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54480"/>
            <a:ext cx="3291840" cy="1005840"/>
          </a:xfrm>
          <a:prstGeom prst="round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+31.6% RELIABILITY BOOST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Uncompensated 50.4%  ➔  Compensated 81.9%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005840"/>
            <a:ext cx="3550615" cy="530352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D700"/>
                </a:solidFill>
              </a:defRPr>
            </a:pPr>
            <a:r>
              <a:t>🚀 SCALABILITY ROADMAP</a:t>
            </a:r>
          </a:p>
          <a:p>
            <a:pPr>
              <a:defRPr sz="1000" b="1">
                <a:solidFill>
                  <a:srgbClr val="FF9933"/>
                </a:solidFill>
              </a:defRPr>
            </a:pPr>
            <a:r>
              <a:t>📌 PHASE 1: PROTOTYPE (CURRENT)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   Laptop Edge AI + Wokwi ESP32 Simulation &amp; MQTT Link (Verified)</a:t>
            </a:r>
          </a:p>
          <a:p>
            <a:pPr>
              <a:defRPr sz="1000" b="1">
                <a:solidFill>
                  <a:srgbClr val="FF9933"/>
                </a:solidFill>
              </a:defRPr>
            </a:pPr>
            <a:r>
              <a:t>📌 PHASE 2: EMBEDDED HARDWARE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   Jetson Orin Nano + Physical Dual-Servo Pan/Tilt Gimbal Payload</a:t>
            </a:r>
          </a:p>
          <a:p>
            <a:pPr>
              <a:defRPr sz="1000" b="1">
                <a:solidFill>
                  <a:srgbClr val="FF9933"/>
                </a:solidFill>
              </a:defRPr>
            </a:pPr>
            <a:r>
              <a:t>📌 PHASE 3: FIELD RUGGEDIZATION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   IP67 Enclosure + Military Sensor Integration for High-Altitude Field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BD5E1"/>
                </a:solidFill>
              </a:defRPr>
            </a:pPr>
            <a:r>
              <a:t>🇮🇳 SMART INDIA HACKATHON 2026 | PS 26050 — HIGH ALTITUDE ANTI-DRONE SYSTEM | TEAM HAADS SIH 26050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365760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365760"/>
            <a:ext cx="36576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0" y="365760"/>
            <a:ext cx="3962095" cy="54864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502920"/>
            <a:ext cx="2926080" cy="320040"/>
          </a:xfrm>
          <a:prstGeom prst="roundRect">
            <a:avLst/>
          </a:prstGeom>
          <a:solidFill>
            <a:srgbClr val="003399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📍 SIH POINTER: RESEARCH AND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43891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RESEARCH AND REFERENCES: ACADEMIC &amp; DEFENCE STANDARDS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11277295" cy="96012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23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9933"/>
                </a:solidFill>
              </a:defRPr>
            </a:pPr>
            <a:r>
              <a:t>📚 [1] EDGE AI OBJECT DETECTION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Ultralytics YOLO26n Architecture &amp; Real-Time Computer Vision Pipeline</a:t>
            </a:r>
            <a:br/>
            <a:r>
              <a:t>Focus: Lightweight sub-40ms neural inference for mobile/edge embedded target identification.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75688"/>
            <a:ext cx="11277295" cy="96012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23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9933"/>
                </a:solidFill>
              </a:defRPr>
            </a:pPr>
            <a:r>
              <a:t>🔬 [2] HIGH-ALTITUDE ATMOSPHERIC MECHANICS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Barometric Formula &amp; Temperature Stiffness Scaling in Extreme Altitudes</a:t>
            </a:r>
            <a:br/>
            <a:r>
              <a:t>Focus: Mathematical modeling of air density decay (500 hPa) &amp; low-temperature polymer stiffness.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45536"/>
            <a:ext cx="11277295" cy="96012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23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9933"/>
                </a:solidFill>
              </a:defRPr>
            </a:pPr>
            <a:r>
              <a:t>🌐 [3] IOT &amp; HARDWARE SIMULATION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Wokwi ESP32 Virtual Platform &amp; HiveMQ MQTT Pub/Sub Communication Standards</a:t>
            </a:r>
            <a:br/>
            <a:r>
              <a:t>Focus: Telemetry streaming, remote heartbeat verification &amp; piezo buzzer alarm control.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15383"/>
            <a:ext cx="11277295" cy="96012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23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9933"/>
                </a:solidFill>
              </a:defRPr>
            </a:pPr>
            <a:r>
              <a:t>🎯 [4] PERSISTENT TARGET TRACKING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SORT (Simple Online and Realtime Tracking) Algorithm &amp; Kalman Filtering</a:t>
            </a:r>
            <a:br/>
            <a:r>
              <a:t>Focus: Continuous Track ID preservation and bounding box centroid vector locking.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285231"/>
            <a:ext cx="11277295" cy="96012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23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9933"/>
                </a:solidFill>
              </a:defRPr>
            </a:pPr>
            <a:r>
              <a:t>🛡️ [5] MILITARY DEFENCE RELIABILITY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MIL-STD-810H Environmental Engineering Considerations for Altitude &amp; Cold</a:t>
            </a:r>
            <a:br/>
            <a:r>
              <a:t>Focus: Defence technology testing standards for high-altitude mountain deployments.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852160"/>
            <a:ext cx="11277295" cy="502920"/>
          </a:xfrm>
          <a:prstGeom prst="roundRect">
            <a:avLst/>
          </a:prstGeom>
          <a:solidFill>
            <a:srgbClr val="0F172A"/>
          </a:solidFill>
          <a:ln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38808"/>
                </a:solidFill>
              </a:defRPr>
            </a:pPr>
            <a:r>
              <a:t>ℹ️ ACADEMIC &amp; TECHNICAL COMPLIANCE NOTE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All references correspond to verified open academic literature, IEEE standards, and open-source engineering frameworks. Zero synthetic claims.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BD5E1"/>
                </a:solidFill>
              </a:defRPr>
            </a:pPr>
            <a:r>
              <a:t>🇮🇳 SMART INDIA HACKATHON 2026 | PS 26050 — HIGH ALTITUDE ANTI-DRONE SYSTEM | TEAM HAADS SIH 26050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